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Average"/>
      <p:regular r:id="rId13"/>
    </p:embeddedFont>
    <p:embeddedFont>
      <p:font typeface="Oswald"/>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Average-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bold.fntdata"/><Relationship Id="rId14"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b68f741d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b68f741d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b68f741d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b68f741d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b68f741d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b68f741d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Before beginning any training of any models, it was first necessary to address the problem of the class imbalance as the original dataset</a:t>
            </a:r>
            <a:endParaRPr/>
          </a:p>
          <a:p>
            <a:pPr indent="-298450" lvl="0" marL="457200" rtl="0" algn="l">
              <a:spcBef>
                <a:spcPts val="0"/>
              </a:spcBef>
              <a:spcAft>
                <a:spcPts val="0"/>
              </a:spcAft>
              <a:buSzPts val="1100"/>
              <a:buChar char="-"/>
            </a:pPr>
            <a:r>
              <a:rPr lang="en-GB"/>
              <a:t>Two options : random oversampling and SMOTE…the latter would replicate rows at random from the minority class while the latter would create synthetic samples by KNN interpolation.</a:t>
            </a:r>
            <a:endParaRPr/>
          </a:p>
          <a:p>
            <a:pPr indent="-298450" lvl="0" marL="457200" rtl="0" algn="l">
              <a:spcBef>
                <a:spcPts val="0"/>
              </a:spcBef>
              <a:spcAft>
                <a:spcPts val="0"/>
              </a:spcAft>
              <a:buSzPts val="1100"/>
              <a:buChar char="-"/>
            </a:pPr>
            <a:r>
              <a:rPr lang="en-GB"/>
              <a:t>lead to a dataset that is slightly further from the ground truth as it would contain “made up” rows, it does not reduce accuracy but improve it. random oversampling = induces overfitting by allowing the model to constantly see the same rows many times over. Thus we chose SMOTE to balance out our class. </a:t>
            </a:r>
            <a:endParaRPr/>
          </a:p>
          <a:p>
            <a:pPr indent="-298450" lvl="0" marL="457200" rtl="0" algn="l">
              <a:spcBef>
                <a:spcPts val="0"/>
              </a:spcBef>
              <a:spcAft>
                <a:spcPts val="0"/>
              </a:spcAft>
              <a:buSzPts val="1100"/>
              <a:buChar char="-"/>
            </a:pPr>
            <a:r>
              <a:rPr lang="en-GB"/>
              <a:t>Now, moving onto model selection and optimisation, we created a 70:30 split with the latter being used to fine-tune the model. We call it validation instead of training because the dataset provided came with its own test set which we used at the end in order to show the functionality of our full ML pipeline.</a:t>
            </a:r>
            <a:endParaRPr/>
          </a:p>
          <a:p>
            <a:pPr indent="-298450" lvl="0" marL="457200" rtl="0" algn="l">
              <a:spcBef>
                <a:spcPts val="0"/>
              </a:spcBef>
              <a:spcAft>
                <a:spcPts val="0"/>
              </a:spcAft>
              <a:buSzPts val="1100"/>
              <a:buChar char="-"/>
            </a:pPr>
            <a:r>
              <a:rPr lang="en-GB"/>
              <a:t>As for the models, we chose 5 base models, 1 linear, 1 clustering, 1 tree based and 2 tree based ensemble methods. We know from preprocessing pipeline that we used ordinal encoding which is more heavily favoured by tree based models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b68f741d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b68f741d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b68f741d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b68f741d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b68f741d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b68f741d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gitlab.computing.dcu.ie/angelo.miculescu2/csc1181-group-projec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GB" sz="4000"/>
              <a:t>Human Resources Analytics: </a:t>
            </a:r>
            <a:endParaRPr sz="4000"/>
          </a:p>
          <a:p>
            <a:pPr indent="0" lvl="0" marL="0" rtl="0" algn="ctr">
              <a:spcBef>
                <a:spcPts val="0"/>
              </a:spcBef>
              <a:spcAft>
                <a:spcPts val="0"/>
              </a:spcAft>
              <a:buNone/>
            </a:pPr>
            <a:r>
              <a:rPr lang="en-GB" sz="4000"/>
              <a:t>A Machine Learning Classification Study</a:t>
            </a:r>
            <a:endParaRPr sz="4000"/>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chemeClr val="dk1"/>
                </a:solidFill>
              </a:rPr>
              <a:t>CSC1181 - GROUP II</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45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200"/>
              <a:t>Introduction &amp; Model Selection</a:t>
            </a:r>
            <a:endParaRPr sz="2200"/>
          </a:p>
          <a:p>
            <a:pPr indent="0" lvl="0" marL="0" rtl="0" algn="l">
              <a:spcBef>
                <a:spcPts val="0"/>
              </a:spcBef>
              <a:spcAft>
                <a:spcPts val="0"/>
              </a:spcAft>
              <a:buNone/>
            </a:pPr>
            <a:r>
              <a:t/>
            </a:r>
            <a:endParaRPr sz="2200"/>
          </a:p>
        </p:txBody>
      </p:sp>
      <p:sp>
        <p:nvSpPr>
          <p:cNvPr id="66" name="Google Shape;66;p14"/>
          <p:cNvSpPr txBox="1"/>
          <p:nvPr>
            <p:ph idx="1" type="body"/>
          </p:nvPr>
        </p:nvSpPr>
        <p:spPr>
          <a:xfrm>
            <a:off x="311700" y="989825"/>
            <a:ext cx="8520600" cy="4056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GB" sz="1000">
                <a:solidFill>
                  <a:schemeClr val="dk1"/>
                </a:solidFill>
              </a:rPr>
              <a:t>Problem Statement:</a:t>
            </a:r>
            <a:endParaRPr sz="1000">
              <a:solidFill>
                <a:schemeClr val="dk1"/>
              </a:solidFill>
            </a:endParaRPr>
          </a:p>
          <a:p>
            <a:pPr indent="-292100" lvl="0" marL="457200" rtl="0" algn="l">
              <a:lnSpc>
                <a:spcPct val="95000"/>
              </a:lnSpc>
              <a:spcBef>
                <a:spcPts val="1200"/>
              </a:spcBef>
              <a:spcAft>
                <a:spcPts val="0"/>
              </a:spcAft>
              <a:buClr>
                <a:schemeClr val="dk1"/>
              </a:buClr>
              <a:buSzPts val="1000"/>
              <a:buChar char="●"/>
            </a:pPr>
            <a:r>
              <a:rPr lang="en-GB" sz="1000">
                <a:solidFill>
                  <a:schemeClr val="dk1"/>
                </a:solidFill>
              </a:rPr>
              <a:t>Binary classification task: Predict probability of job-change intent among data science training candidates</a:t>
            </a:r>
            <a:endParaRPr sz="1000">
              <a:solidFill>
                <a:schemeClr val="dk1"/>
              </a:solidFill>
            </a:endParaRPr>
          </a:p>
          <a:p>
            <a:pPr indent="-292100" lvl="0" marL="457200" rtl="0" algn="l">
              <a:lnSpc>
                <a:spcPct val="95000"/>
              </a:lnSpc>
              <a:spcBef>
                <a:spcPts val="0"/>
              </a:spcBef>
              <a:spcAft>
                <a:spcPts val="0"/>
              </a:spcAft>
              <a:buClr>
                <a:schemeClr val="dk1"/>
              </a:buClr>
              <a:buSzPts val="1000"/>
              <a:buChar char="●"/>
            </a:pPr>
            <a:r>
              <a:rPr lang="en-GB" sz="1000">
                <a:solidFill>
                  <a:schemeClr val="dk1"/>
                </a:solidFill>
              </a:rPr>
              <a:t>Dataset: 19,158 observations with 25% positive class (seeking job change)</a:t>
            </a:r>
            <a:endParaRPr sz="1000">
              <a:solidFill>
                <a:schemeClr val="dk1"/>
              </a:solidFill>
            </a:endParaRPr>
          </a:p>
          <a:p>
            <a:pPr indent="-292100" lvl="0" marL="457200" rtl="0" algn="l">
              <a:lnSpc>
                <a:spcPct val="95000"/>
              </a:lnSpc>
              <a:spcBef>
                <a:spcPts val="0"/>
              </a:spcBef>
              <a:spcAft>
                <a:spcPts val="0"/>
              </a:spcAft>
              <a:buClr>
                <a:schemeClr val="dk1"/>
              </a:buClr>
              <a:buSzPts val="1000"/>
              <a:buChar char="●"/>
            </a:pPr>
            <a:r>
              <a:rPr lang="en-GB" sz="1000">
                <a:solidFill>
                  <a:schemeClr val="dk1"/>
                </a:solidFill>
              </a:rPr>
              <a:t>Business objective: Optimize HR resource allocation and reduce training investment waste</a:t>
            </a:r>
            <a:endParaRPr sz="1000">
              <a:solidFill>
                <a:schemeClr val="dk1"/>
              </a:solidFill>
            </a:endParaRPr>
          </a:p>
          <a:p>
            <a:pPr indent="0" lvl="0" marL="0" rtl="0" algn="l">
              <a:lnSpc>
                <a:spcPct val="95000"/>
              </a:lnSpc>
              <a:spcBef>
                <a:spcPts val="1200"/>
              </a:spcBef>
              <a:spcAft>
                <a:spcPts val="0"/>
              </a:spcAft>
              <a:buSzPts val="853"/>
              <a:buNone/>
            </a:pPr>
            <a:br>
              <a:rPr lang="en-GB" sz="1000">
                <a:solidFill>
                  <a:schemeClr val="dk1"/>
                </a:solidFill>
              </a:rPr>
            </a:br>
            <a:r>
              <a:rPr lang="en-GB" sz="1000">
                <a:solidFill>
                  <a:schemeClr val="dk1"/>
                </a:solidFill>
              </a:rPr>
              <a:t>Why Gradient Boosting Classifier? We selected the Gradient Boosting model over Random Forest (which had marginally better results) because much of the data was ordinal and explicitly encoded as such, and tree-based methods naturally handle ordinal relationships and non-linear patterns far better than linear models.</a:t>
            </a:r>
            <a:endParaRPr sz="1000">
              <a:solidFill>
                <a:schemeClr val="dk1"/>
              </a:solidFill>
            </a:endParaRPr>
          </a:p>
          <a:p>
            <a:pPr indent="0" lvl="0" marL="0" rtl="0" algn="l">
              <a:lnSpc>
                <a:spcPct val="95000"/>
              </a:lnSpc>
              <a:spcBef>
                <a:spcPts val="1200"/>
              </a:spcBef>
              <a:spcAft>
                <a:spcPts val="0"/>
              </a:spcAft>
              <a:buSzPts val="853"/>
              <a:buNone/>
            </a:pPr>
            <a:r>
              <a:t/>
            </a:r>
            <a:endParaRPr sz="1000">
              <a:solidFill>
                <a:schemeClr val="dk1"/>
              </a:solidFill>
            </a:endParaRPr>
          </a:p>
          <a:p>
            <a:pPr indent="0" lvl="0" marL="0" rtl="0" algn="l">
              <a:lnSpc>
                <a:spcPct val="95000"/>
              </a:lnSpc>
              <a:spcBef>
                <a:spcPts val="1200"/>
              </a:spcBef>
              <a:spcAft>
                <a:spcPts val="0"/>
              </a:spcAft>
              <a:buSzPts val="853"/>
              <a:buNone/>
            </a:pPr>
            <a:r>
              <a:t/>
            </a:r>
            <a:endParaRPr sz="1000">
              <a:solidFill>
                <a:schemeClr val="dk1"/>
              </a:solidFill>
            </a:endParaRPr>
          </a:p>
          <a:p>
            <a:pPr indent="0" lvl="0" marL="0" rtl="0" algn="l">
              <a:lnSpc>
                <a:spcPct val="95000"/>
              </a:lnSpc>
              <a:spcBef>
                <a:spcPts val="1200"/>
              </a:spcBef>
              <a:spcAft>
                <a:spcPts val="0"/>
              </a:spcAft>
              <a:buSzPts val="853"/>
              <a:buNone/>
            </a:pPr>
            <a:r>
              <a:t/>
            </a:r>
            <a:endParaRPr sz="1000">
              <a:solidFill>
                <a:schemeClr val="dk1"/>
              </a:solidFill>
            </a:endParaRPr>
          </a:p>
          <a:p>
            <a:pPr indent="0" lvl="0" marL="0" rtl="0" algn="l">
              <a:lnSpc>
                <a:spcPct val="95000"/>
              </a:lnSpc>
              <a:spcBef>
                <a:spcPts val="1200"/>
              </a:spcBef>
              <a:spcAft>
                <a:spcPts val="0"/>
              </a:spcAft>
              <a:buSzPts val="853"/>
              <a:buNone/>
            </a:pPr>
            <a:r>
              <a:t/>
            </a:r>
            <a:endParaRPr sz="1000">
              <a:solidFill>
                <a:schemeClr val="dk1"/>
              </a:solidFill>
            </a:endParaRPr>
          </a:p>
          <a:p>
            <a:pPr indent="0" lvl="0" marL="0" rtl="0" algn="l">
              <a:lnSpc>
                <a:spcPct val="95000"/>
              </a:lnSpc>
              <a:spcBef>
                <a:spcPts val="1200"/>
              </a:spcBef>
              <a:spcAft>
                <a:spcPts val="0"/>
              </a:spcAft>
              <a:buClr>
                <a:schemeClr val="dk1"/>
              </a:buClr>
              <a:buSzPts val="853"/>
              <a:buFont typeface="Arial"/>
              <a:buNone/>
            </a:pPr>
            <a:br>
              <a:rPr lang="en-GB" sz="1000">
                <a:solidFill>
                  <a:schemeClr val="dk1"/>
                </a:solidFill>
              </a:rPr>
            </a:br>
            <a:r>
              <a:rPr lang="en-GB" sz="1000">
                <a:solidFill>
                  <a:schemeClr val="dk1"/>
                </a:solidFill>
              </a:rPr>
              <a:t>Model Architecture:</a:t>
            </a:r>
            <a:endParaRPr sz="1000">
              <a:solidFill>
                <a:schemeClr val="dk1"/>
              </a:solidFill>
            </a:endParaRPr>
          </a:p>
          <a:p>
            <a:pPr indent="-292100" lvl="0" marL="457200" rtl="0" algn="l">
              <a:lnSpc>
                <a:spcPct val="95000"/>
              </a:lnSpc>
              <a:spcBef>
                <a:spcPts val="1200"/>
              </a:spcBef>
              <a:spcAft>
                <a:spcPts val="0"/>
              </a:spcAft>
              <a:buClr>
                <a:schemeClr val="dk1"/>
              </a:buClr>
              <a:buSzPts val="1000"/>
              <a:buChar char="●"/>
            </a:pPr>
            <a:r>
              <a:rPr lang="en-GB" sz="1000">
                <a:solidFill>
                  <a:schemeClr val="dk1"/>
                </a:solidFill>
              </a:rPr>
              <a:t>Ensemble of 224 decision trees (n_estimators)</a:t>
            </a:r>
            <a:endParaRPr sz="1000">
              <a:solidFill>
                <a:schemeClr val="dk1"/>
              </a:solidFill>
            </a:endParaRPr>
          </a:p>
          <a:p>
            <a:pPr indent="-292100" lvl="0" marL="457200" rtl="0" algn="l">
              <a:lnSpc>
                <a:spcPct val="95000"/>
              </a:lnSpc>
              <a:spcBef>
                <a:spcPts val="0"/>
              </a:spcBef>
              <a:spcAft>
                <a:spcPts val="0"/>
              </a:spcAft>
              <a:buClr>
                <a:schemeClr val="dk1"/>
              </a:buClr>
              <a:buSzPts val="1000"/>
              <a:buChar char="●"/>
            </a:pPr>
            <a:r>
              <a:rPr lang="en-GB" sz="1000">
                <a:solidFill>
                  <a:schemeClr val="dk1"/>
                </a:solidFill>
              </a:rPr>
              <a:t>Maximum depth: 8 (max_depth)</a:t>
            </a:r>
            <a:endParaRPr sz="1000">
              <a:solidFill>
                <a:schemeClr val="dk1"/>
              </a:solidFill>
            </a:endParaRPr>
          </a:p>
          <a:p>
            <a:pPr indent="-292100" lvl="0" marL="457200" rtl="0" algn="l">
              <a:lnSpc>
                <a:spcPct val="95000"/>
              </a:lnSpc>
              <a:spcBef>
                <a:spcPts val="0"/>
              </a:spcBef>
              <a:spcAft>
                <a:spcPts val="0"/>
              </a:spcAft>
              <a:buClr>
                <a:schemeClr val="dk1"/>
              </a:buClr>
              <a:buSzPts val="1000"/>
              <a:buChar char="●"/>
            </a:pPr>
            <a:r>
              <a:rPr lang="en-GB" sz="1000">
                <a:solidFill>
                  <a:schemeClr val="dk1"/>
                </a:solidFill>
              </a:rPr>
              <a:t>Learning rate: 0.0798 (controls sequential tree contribution)</a:t>
            </a:r>
            <a:endParaRPr sz="1000">
              <a:solidFill>
                <a:schemeClr val="dk1"/>
              </a:solidFill>
            </a:endParaRPr>
          </a:p>
          <a:p>
            <a:pPr indent="0" lvl="0" marL="0" rtl="0" algn="l">
              <a:lnSpc>
                <a:spcPct val="95000"/>
              </a:lnSpc>
              <a:spcBef>
                <a:spcPts val="1200"/>
              </a:spcBef>
              <a:spcAft>
                <a:spcPts val="1200"/>
              </a:spcAft>
              <a:buSzPts val="853"/>
              <a:buNone/>
            </a:pPr>
            <a:r>
              <a:t/>
            </a:r>
            <a:endParaRPr sz="1000">
              <a:solidFill>
                <a:schemeClr val="dk1"/>
              </a:solidFill>
            </a:endParaRPr>
          </a:p>
        </p:txBody>
      </p:sp>
      <p:pic>
        <p:nvPicPr>
          <p:cNvPr id="67" name="Google Shape;67;p14"/>
          <p:cNvPicPr preferRelativeResize="0"/>
          <p:nvPr/>
        </p:nvPicPr>
        <p:blipFill>
          <a:blip r:embed="rId3">
            <a:alphaModFix/>
          </a:blip>
          <a:stretch>
            <a:fillRect/>
          </a:stretch>
        </p:blipFill>
        <p:spPr>
          <a:xfrm>
            <a:off x="426375" y="2624775"/>
            <a:ext cx="7987048" cy="1337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42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200"/>
              <a:t>Dataset Characteristics &amp; Preprocessing</a:t>
            </a:r>
            <a:endParaRPr sz="2200"/>
          </a:p>
        </p:txBody>
      </p:sp>
      <p:sp>
        <p:nvSpPr>
          <p:cNvPr id="73" name="Google Shape;73;p15"/>
          <p:cNvSpPr txBox="1"/>
          <p:nvPr>
            <p:ph idx="1" type="body"/>
          </p:nvPr>
        </p:nvSpPr>
        <p:spPr>
          <a:xfrm>
            <a:off x="311700" y="910275"/>
            <a:ext cx="8520600" cy="429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000">
                <a:solidFill>
                  <a:schemeClr val="dk1"/>
                </a:solidFill>
              </a:rPr>
              <a:t>Dataset Overview:</a:t>
            </a:r>
            <a:endParaRPr sz="1000">
              <a:solidFill>
                <a:schemeClr val="dk1"/>
              </a:solidFill>
            </a:endParaRPr>
          </a:p>
          <a:p>
            <a:pPr indent="-292100" lvl="0" marL="457200" rtl="0" algn="l">
              <a:spcBef>
                <a:spcPts val="1200"/>
              </a:spcBef>
              <a:spcAft>
                <a:spcPts val="0"/>
              </a:spcAft>
              <a:buClr>
                <a:schemeClr val="dk1"/>
              </a:buClr>
              <a:buSzPts val="1000"/>
              <a:buChar char="●"/>
            </a:pPr>
            <a:r>
              <a:rPr lang="en-GB" sz="1000">
                <a:solidFill>
                  <a:schemeClr val="dk1"/>
                </a:solidFill>
              </a:rPr>
              <a:t>n = 19,158 observations, p = 14 features (12 after preprocessing)</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Target: 75% class 0 | 25% class 1</a:t>
            </a:r>
            <a:endParaRPr sz="1000">
              <a:solidFill>
                <a:schemeClr val="dk1"/>
              </a:solidFill>
            </a:endParaRPr>
          </a:p>
          <a:p>
            <a:pPr indent="0" lvl="0" marL="0" rtl="0" algn="l">
              <a:spcBef>
                <a:spcPts val="1200"/>
              </a:spcBef>
              <a:spcAft>
                <a:spcPts val="0"/>
              </a:spcAft>
              <a:buNone/>
            </a:pPr>
            <a:r>
              <a:rPr lang="en-GB" sz="1000">
                <a:solidFill>
                  <a:schemeClr val="dk1"/>
                </a:solidFill>
              </a:rPr>
              <a:t>Key Features:</a:t>
            </a:r>
            <a:endParaRPr sz="1000">
              <a:solidFill>
                <a:schemeClr val="dk1"/>
              </a:solidFill>
            </a:endParaRPr>
          </a:p>
          <a:p>
            <a:pPr indent="-292100" lvl="0" marL="457200" rtl="0" algn="l">
              <a:spcBef>
                <a:spcPts val="1200"/>
              </a:spcBef>
              <a:spcAft>
                <a:spcPts val="0"/>
              </a:spcAft>
              <a:buClr>
                <a:schemeClr val="dk1"/>
              </a:buClr>
              <a:buSzPts val="1000"/>
              <a:buChar char="●"/>
            </a:pPr>
            <a:r>
              <a:rPr lang="en-GB" sz="1000">
                <a:solidFill>
                  <a:schemeClr val="dk1"/>
                </a:solidFill>
              </a:rPr>
              <a:t>Numerical: city_development_index (0.448-0.949), training_hours (1-336)</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Ordinal: experience, education_level, company_size, last_new_job</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Nominal: gender, major_discipline, company_type, enrolled_university</a:t>
            </a:r>
            <a:endParaRPr sz="1000">
              <a:solidFill>
                <a:schemeClr val="dk1"/>
              </a:solidFill>
            </a:endParaRPr>
          </a:p>
          <a:p>
            <a:pPr indent="0" lvl="0" marL="0" rtl="0" algn="l">
              <a:spcBef>
                <a:spcPts val="1200"/>
              </a:spcBef>
              <a:spcAft>
                <a:spcPts val="0"/>
              </a:spcAft>
              <a:buNone/>
            </a:pPr>
            <a:r>
              <a:rPr lang="en-GB" sz="1000">
                <a:solidFill>
                  <a:schemeClr val="dk1"/>
                </a:solidFill>
              </a:rPr>
              <a:t>Missing Data:</a:t>
            </a:r>
            <a:endParaRPr sz="1000">
              <a:solidFill>
                <a:schemeClr val="dk1"/>
              </a:solidFill>
            </a:endParaRPr>
          </a:p>
          <a:p>
            <a:pPr indent="-292100" lvl="0" marL="457200" rtl="0" algn="l">
              <a:spcBef>
                <a:spcPts val="1200"/>
              </a:spcBef>
              <a:spcAft>
                <a:spcPts val="0"/>
              </a:spcAft>
              <a:buClr>
                <a:schemeClr val="dk1"/>
              </a:buClr>
              <a:buSzPts val="1000"/>
              <a:buChar char="●"/>
            </a:pPr>
            <a:r>
              <a:rPr lang="en-GB" sz="1000">
                <a:solidFill>
                  <a:schemeClr val="dk1"/>
                </a:solidFill>
              </a:rPr>
              <a:t>gender (23.5%, MNAR)</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company_size/type (31-32%, MNAR)</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major_discipline(14.7%, MAR / MNAR)</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e</a:t>
            </a:r>
            <a:r>
              <a:rPr lang="en-GB" sz="1000">
                <a:solidFill>
                  <a:schemeClr val="dk1"/>
                </a:solidFill>
              </a:rPr>
              <a:t>nrolled_university, education_level, experience, last_new_job (&lt;5% each, MNAR)  </a:t>
            </a:r>
            <a:endParaRPr sz="1000">
              <a:solidFill>
                <a:schemeClr val="dk1"/>
              </a:solidFill>
            </a:endParaRPr>
          </a:p>
          <a:p>
            <a:pPr indent="0" lvl="0" marL="0" rtl="0" algn="l">
              <a:spcBef>
                <a:spcPts val="1200"/>
              </a:spcBef>
              <a:spcAft>
                <a:spcPts val="0"/>
              </a:spcAft>
              <a:buNone/>
            </a:pPr>
            <a:r>
              <a:rPr lang="en-GB" sz="1000">
                <a:solidFill>
                  <a:schemeClr val="dk1"/>
                </a:solidFill>
              </a:rPr>
              <a:t>Preprocessing Pipeline:</a:t>
            </a:r>
            <a:endParaRPr sz="1000">
              <a:solidFill>
                <a:schemeClr val="dk1"/>
              </a:solidFill>
            </a:endParaRPr>
          </a:p>
          <a:p>
            <a:pPr indent="-292100" lvl="0" marL="457200" rtl="0" algn="l">
              <a:spcBef>
                <a:spcPts val="1200"/>
              </a:spcBef>
              <a:spcAft>
                <a:spcPts val="0"/>
              </a:spcAft>
              <a:buClr>
                <a:schemeClr val="dk1"/>
              </a:buClr>
              <a:buSzPts val="1000"/>
              <a:buChar char="●"/>
            </a:pPr>
            <a:r>
              <a:rPr lang="en-GB" sz="1000">
                <a:solidFill>
                  <a:schemeClr val="dk1"/>
                </a:solidFill>
              </a:rPr>
              <a:t>MNAR → "Not Provided" category (preserves information)</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Removed city (perfect collinearity with city_development_index)</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Ordinal encoding for ranked features, one-hot for nominal</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Z-score standardization for numerical features</a:t>
            </a:r>
            <a:endParaRPr sz="1000">
              <a:solidFill>
                <a:schemeClr val="dk1"/>
              </a:solidFill>
            </a:endParaRPr>
          </a:p>
        </p:txBody>
      </p:sp>
      <p:pic>
        <p:nvPicPr>
          <p:cNvPr id="74" name="Google Shape;74;p15"/>
          <p:cNvPicPr preferRelativeResize="0"/>
          <p:nvPr/>
        </p:nvPicPr>
        <p:blipFill>
          <a:blip r:embed="rId3">
            <a:alphaModFix/>
          </a:blip>
          <a:stretch>
            <a:fillRect/>
          </a:stretch>
        </p:blipFill>
        <p:spPr>
          <a:xfrm>
            <a:off x="4819200" y="910275"/>
            <a:ext cx="4124477" cy="1661476"/>
          </a:xfrm>
          <a:prstGeom prst="rect">
            <a:avLst/>
          </a:prstGeom>
          <a:noFill/>
          <a:ln>
            <a:noFill/>
          </a:ln>
        </p:spPr>
      </p:pic>
      <p:pic>
        <p:nvPicPr>
          <p:cNvPr id="75" name="Google Shape;75;p15"/>
          <p:cNvPicPr preferRelativeResize="0"/>
          <p:nvPr/>
        </p:nvPicPr>
        <p:blipFill>
          <a:blip r:embed="rId4">
            <a:alphaModFix/>
          </a:blip>
          <a:stretch>
            <a:fillRect/>
          </a:stretch>
        </p:blipFill>
        <p:spPr>
          <a:xfrm>
            <a:off x="6119651" y="2775351"/>
            <a:ext cx="2824026" cy="12015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412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200"/>
              <a:t>Methodology</a:t>
            </a:r>
            <a:endParaRPr sz="2200"/>
          </a:p>
        </p:txBody>
      </p:sp>
      <p:sp>
        <p:nvSpPr>
          <p:cNvPr id="81" name="Google Shape;81;p16"/>
          <p:cNvSpPr txBox="1"/>
          <p:nvPr>
            <p:ph idx="1" type="body"/>
          </p:nvPr>
        </p:nvSpPr>
        <p:spPr>
          <a:xfrm>
            <a:off x="311700" y="910275"/>
            <a:ext cx="8520600" cy="40389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GB" sz="1000">
                <a:solidFill>
                  <a:schemeClr val="dk1"/>
                </a:solidFill>
              </a:rPr>
              <a:t>Class Imbalance: SMOTE</a:t>
            </a:r>
            <a:endParaRPr b="1" sz="1000">
              <a:solidFill>
                <a:schemeClr val="dk1"/>
              </a:solidFill>
            </a:endParaRPr>
          </a:p>
          <a:p>
            <a:pPr indent="0" lvl="0" marL="0" rtl="0" algn="l">
              <a:spcBef>
                <a:spcPts val="1200"/>
              </a:spcBef>
              <a:spcAft>
                <a:spcPts val="0"/>
              </a:spcAft>
              <a:buClr>
                <a:schemeClr val="dk1"/>
              </a:buClr>
              <a:buSzPts val="1100"/>
              <a:buFont typeface="Arial"/>
              <a:buNone/>
            </a:pPr>
            <a:r>
              <a:rPr b="1" lang="en-GB" sz="1000">
                <a:solidFill>
                  <a:schemeClr val="dk1"/>
                </a:solidFill>
              </a:rPr>
              <a:t>Problem:</a:t>
            </a:r>
            <a:r>
              <a:rPr lang="en-GB" sz="1000">
                <a:solidFill>
                  <a:schemeClr val="dk1"/>
                </a:solidFill>
              </a:rPr>
              <a:t> 75:25 imbalance → majority class bias</a:t>
            </a:r>
            <a:endParaRPr sz="1000">
              <a:solidFill>
                <a:schemeClr val="dk1"/>
              </a:solidFill>
            </a:endParaRPr>
          </a:p>
          <a:p>
            <a:pPr indent="0" lvl="0" marL="0" rtl="0" algn="l">
              <a:spcBef>
                <a:spcPts val="1200"/>
              </a:spcBef>
              <a:spcAft>
                <a:spcPts val="0"/>
              </a:spcAft>
              <a:buClr>
                <a:schemeClr val="dk1"/>
              </a:buClr>
              <a:buSzPts val="1100"/>
              <a:buFont typeface="Arial"/>
              <a:buNone/>
            </a:pPr>
            <a:r>
              <a:rPr b="1" lang="en-GB" sz="1000">
                <a:solidFill>
                  <a:schemeClr val="dk1"/>
                </a:solidFill>
              </a:rPr>
              <a:t>Solution:</a:t>
            </a:r>
            <a:r>
              <a:rPr lang="en-GB" sz="1000">
                <a:solidFill>
                  <a:schemeClr val="dk1"/>
                </a:solidFill>
              </a:rPr>
              <a:t> Synthetic Minority Over-sampling Technique</a:t>
            </a:r>
            <a:endParaRPr sz="1000">
              <a:solidFill>
                <a:schemeClr val="dk1"/>
              </a:solidFill>
            </a:endParaRPr>
          </a:p>
          <a:p>
            <a:pPr indent="-292100" lvl="0" marL="457200" rtl="0" algn="l">
              <a:spcBef>
                <a:spcPts val="1200"/>
              </a:spcBef>
              <a:spcAft>
                <a:spcPts val="0"/>
              </a:spcAft>
              <a:buClr>
                <a:schemeClr val="dk1"/>
              </a:buClr>
              <a:buSzPts val="1000"/>
              <a:buChar char="●"/>
            </a:pPr>
            <a:r>
              <a:rPr lang="en-GB" sz="1000">
                <a:solidFill>
                  <a:schemeClr val="dk1"/>
                </a:solidFill>
              </a:rPr>
              <a:t>Generate synthetic samples by interpolating between k=5 nearest neighbors</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Result: Balanced 50:50 training distribution</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Advantage: Reduces overfitting vs. random oversampling</a:t>
            </a:r>
            <a:endParaRPr sz="1000">
              <a:solidFill>
                <a:schemeClr val="dk1"/>
              </a:solidFill>
            </a:endParaRPr>
          </a:p>
          <a:p>
            <a:pPr indent="0" lvl="0" marL="0" rtl="0" algn="l">
              <a:spcBef>
                <a:spcPts val="1400"/>
              </a:spcBef>
              <a:spcAft>
                <a:spcPts val="0"/>
              </a:spcAft>
              <a:buClr>
                <a:schemeClr val="dk1"/>
              </a:buClr>
              <a:buSzPts val="1100"/>
              <a:buFont typeface="Arial"/>
              <a:buNone/>
            </a:pPr>
            <a:r>
              <a:rPr b="1" lang="en-GB" sz="1000">
                <a:solidFill>
                  <a:schemeClr val="dk1"/>
                </a:solidFill>
              </a:rPr>
              <a:t>Model Selection &amp; Optimization</a:t>
            </a:r>
            <a:endParaRPr b="1" sz="1000">
              <a:solidFill>
                <a:schemeClr val="dk1"/>
              </a:solidFill>
            </a:endParaRPr>
          </a:p>
          <a:p>
            <a:pPr indent="0" lvl="0" marL="0" rtl="0" algn="l">
              <a:spcBef>
                <a:spcPts val="1200"/>
              </a:spcBef>
              <a:spcAft>
                <a:spcPts val="0"/>
              </a:spcAft>
              <a:buClr>
                <a:schemeClr val="dk1"/>
              </a:buClr>
              <a:buSzPts val="1100"/>
              <a:buFont typeface="Arial"/>
              <a:buNone/>
            </a:pPr>
            <a:r>
              <a:rPr b="1" lang="en-GB" sz="1000">
                <a:solidFill>
                  <a:schemeClr val="dk1"/>
                </a:solidFill>
              </a:rPr>
              <a:t>Validation:</a:t>
            </a:r>
            <a:r>
              <a:rPr lang="en-GB" sz="1000">
                <a:solidFill>
                  <a:schemeClr val="dk1"/>
                </a:solidFill>
              </a:rPr>
              <a:t> 70% train | 30% validation (stratified split)</a:t>
            </a:r>
            <a:endParaRPr sz="1000">
              <a:solidFill>
                <a:schemeClr val="dk1"/>
              </a:solidFill>
            </a:endParaRPr>
          </a:p>
          <a:p>
            <a:pPr indent="0" lvl="0" marL="0" rtl="0" algn="l">
              <a:spcBef>
                <a:spcPts val="1200"/>
              </a:spcBef>
              <a:spcAft>
                <a:spcPts val="0"/>
              </a:spcAft>
              <a:buNone/>
            </a:pPr>
            <a:r>
              <a:rPr b="1" lang="en-GB" sz="1000">
                <a:solidFill>
                  <a:schemeClr val="dk1"/>
                </a:solidFill>
              </a:rPr>
              <a:t>5 Candidate Models: </a:t>
            </a:r>
            <a:r>
              <a:rPr lang="en-GB" sz="1000">
                <a:solidFill>
                  <a:schemeClr val="dk1"/>
                </a:solidFill>
              </a:rPr>
              <a:t>Logistic Regression (0.739), K-Nearest Neighbors (0.777), Decision Tree (0.777), Random Forest (0.842), </a:t>
            </a:r>
            <a:r>
              <a:rPr b="1" lang="en-GB" sz="1000">
                <a:solidFill>
                  <a:schemeClr val="dk1"/>
                </a:solidFill>
              </a:rPr>
              <a:t>Gradient Boosting (0.818 → 0.844)</a:t>
            </a:r>
            <a:endParaRPr b="1" sz="1000">
              <a:solidFill>
                <a:schemeClr val="dk1"/>
              </a:solidFill>
            </a:endParaRPr>
          </a:p>
          <a:p>
            <a:pPr indent="0" lvl="0" marL="0" rtl="0" algn="l">
              <a:spcBef>
                <a:spcPts val="1200"/>
              </a:spcBef>
              <a:spcAft>
                <a:spcPts val="0"/>
              </a:spcAft>
              <a:buNone/>
            </a:pPr>
            <a:r>
              <a:rPr b="1" lang="en-GB" sz="1000">
                <a:solidFill>
                  <a:schemeClr val="dk1"/>
                </a:solidFill>
              </a:rPr>
              <a:t>Hyperparameter Tuning:</a:t>
            </a:r>
            <a:endParaRPr b="1" sz="1000">
              <a:solidFill>
                <a:schemeClr val="dk1"/>
              </a:solidFill>
            </a:endParaRPr>
          </a:p>
          <a:p>
            <a:pPr indent="-292100" lvl="0" marL="457200" rtl="0" algn="l">
              <a:spcBef>
                <a:spcPts val="1200"/>
              </a:spcBef>
              <a:spcAft>
                <a:spcPts val="0"/>
              </a:spcAft>
              <a:buClr>
                <a:schemeClr val="dk1"/>
              </a:buClr>
              <a:buSzPts val="1000"/>
              <a:buChar char="●"/>
            </a:pPr>
            <a:r>
              <a:rPr lang="en-GB" sz="1000">
                <a:solidFill>
                  <a:schemeClr val="dk1"/>
                </a:solidFill>
              </a:rPr>
              <a:t>Method: RandomizedSearchCV (5-fold CV, 20 iterations)</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Optimized: n_estimators=224, max_depth=8, learning_rate=0.0798</a:t>
            </a:r>
            <a:endParaRPr sz="1000">
              <a:solidFill>
                <a:schemeClr val="dk1"/>
              </a:solidFill>
            </a:endParaRPr>
          </a:p>
          <a:p>
            <a:pPr indent="0" lvl="0" marL="0" rtl="0" algn="l">
              <a:spcBef>
                <a:spcPts val="1200"/>
              </a:spcBef>
              <a:spcAft>
                <a:spcPts val="0"/>
              </a:spcAft>
              <a:buClr>
                <a:schemeClr val="dk1"/>
              </a:buClr>
              <a:buSzPts val="1100"/>
              <a:buFont typeface="Arial"/>
              <a:buNone/>
            </a:pPr>
            <a:r>
              <a:t/>
            </a:r>
            <a:endParaRPr b="1" sz="1000">
              <a:solidFill>
                <a:schemeClr val="dk1"/>
              </a:solidFill>
            </a:endParaRPr>
          </a:p>
          <a:p>
            <a:pPr indent="0" lvl="0" marL="0" rtl="0" algn="l">
              <a:spcBef>
                <a:spcPts val="1200"/>
              </a:spcBef>
              <a:spcAft>
                <a:spcPts val="1200"/>
              </a:spcAft>
              <a:buNone/>
            </a:pPr>
            <a:r>
              <a:t/>
            </a:r>
            <a:endParaRPr sz="1000"/>
          </a:p>
        </p:txBody>
      </p:sp>
      <p:pic>
        <p:nvPicPr>
          <p:cNvPr id="82" name="Google Shape;82;p16"/>
          <p:cNvPicPr preferRelativeResize="0"/>
          <p:nvPr/>
        </p:nvPicPr>
        <p:blipFill>
          <a:blip r:embed="rId3">
            <a:alphaModFix/>
          </a:blip>
          <a:stretch>
            <a:fillRect/>
          </a:stretch>
        </p:blipFill>
        <p:spPr>
          <a:xfrm>
            <a:off x="6389500" y="489225"/>
            <a:ext cx="2597607" cy="1499250"/>
          </a:xfrm>
          <a:prstGeom prst="rect">
            <a:avLst/>
          </a:prstGeom>
          <a:noFill/>
          <a:ln>
            <a:noFill/>
          </a:ln>
        </p:spPr>
      </p:pic>
      <p:pic>
        <p:nvPicPr>
          <p:cNvPr id="83" name="Google Shape;83;p16"/>
          <p:cNvPicPr preferRelativeResize="0"/>
          <p:nvPr/>
        </p:nvPicPr>
        <p:blipFill>
          <a:blip r:embed="rId4">
            <a:alphaModFix/>
          </a:blip>
          <a:stretch>
            <a:fillRect/>
          </a:stretch>
        </p:blipFill>
        <p:spPr>
          <a:xfrm>
            <a:off x="7171175" y="2068000"/>
            <a:ext cx="1815924" cy="1113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44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200"/>
              <a:t>Results &amp; Evaluation</a:t>
            </a:r>
            <a:endParaRPr sz="2200"/>
          </a:p>
        </p:txBody>
      </p:sp>
      <p:sp>
        <p:nvSpPr>
          <p:cNvPr id="89" name="Google Shape;89;p17"/>
          <p:cNvSpPr txBox="1"/>
          <p:nvPr>
            <p:ph idx="1" type="body"/>
          </p:nvPr>
        </p:nvSpPr>
        <p:spPr>
          <a:xfrm>
            <a:off x="311700" y="892625"/>
            <a:ext cx="8520600" cy="4165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GB" sz="1000">
                <a:solidFill>
                  <a:schemeClr val="dk1"/>
                </a:solidFill>
              </a:rPr>
              <a:t>Performance Metrics (Validation Set):  Overall: Accuracy</a:t>
            </a:r>
            <a:r>
              <a:rPr lang="en-GB" sz="1000">
                <a:solidFill>
                  <a:schemeClr val="dk1"/>
                </a:solidFill>
              </a:rPr>
              <a:t> = 84.38%, </a:t>
            </a:r>
            <a:r>
              <a:rPr b="1" lang="en-GB" sz="1000">
                <a:solidFill>
                  <a:schemeClr val="dk1"/>
                </a:solidFill>
              </a:rPr>
              <a:t>Overall: ROC AUC</a:t>
            </a:r>
            <a:r>
              <a:rPr lang="en-GB" sz="1000">
                <a:solidFill>
                  <a:schemeClr val="dk1"/>
                </a:solidFill>
              </a:rPr>
              <a:t> = 0.845</a:t>
            </a:r>
            <a:endParaRPr sz="1000">
              <a:solidFill>
                <a:schemeClr val="dk1"/>
              </a:solidFill>
            </a:endParaRPr>
          </a:p>
          <a:p>
            <a:pPr indent="0" lvl="0" marL="0" rtl="0" algn="l">
              <a:spcBef>
                <a:spcPts val="1200"/>
              </a:spcBef>
              <a:spcAft>
                <a:spcPts val="0"/>
              </a:spcAft>
              <a:buClr>
                <a:schemeClr val="dk1"/>
              </a:buClr>
              <a:buSzPts val="1100"/>
              <a:buFont typeface="Arial"/>
              <a:buNone/>
            </a:pPr>
            <a:r>
              <a:rPr b="1" lang="en-GB" sz="1000">
                <a:solidFill>
                  <a:schemeClr val="dk1"/>
                </a:solidFill>
              </a:rPr>
              <a:t>Confusion Matrix:</a:t>
            </a:r>
            <a:r>
              <a:rPr lang="en-GB" sz="1000">
                <a:solidFill>
                  <a:schemeClr val="dk1"/>
                </a:solidFill>
              </a:rPr>
              <a:t> Type I error = 15%, Type II error = 16%</a:t>
            </a:r>
            <a:endParaRPr sz="1000">
              <a:solidFill>
                <a:schemeClr val="dk1"/>
              </a:solidFill>
            </a:endParaRPr>
          </a:p>
          <a:p>
            <a:pPr indent="0" lvl="0" marL="0" rtl="0" algn="l">
              <a:spcBef>
                <a:spcPts val="1400"/>
              </a:spcBef>
              <a:spcAft>
                <a:spcPts val="0"/>
              </a:spcAft>
              <a:buClr>
                <a:schemeClr val="dk1"/>
              </a:buClr>
              <a:buSzPts val="1100"/>
              <a:buFont typeface="Arial"/>
              <a:buNone/>
            </a:pPr>
            <a:r>
              <a:rPr b="1" lang="en-GB" sz="1000">
                <a:solidFill>
                  <a:schemeClr val="dk1"/>
                </a:solidFill>
              </a:rPr>
              <a:t>Top 3 Features (Gradient Boosting Algorithm)</a:t>
            </a:r>
            <a:endParaRPr b="1" sz="1000">
              <a:solidFill>
                <a:schemeClr val="dk1"/>
              </a:solidFill>
            </a:endParaRPr>
          </a:p>
          <a:p>
            <a:pPr indent="-292100" lvl="0" marL="457200" rtl="0" algn="l">
              <a:spcBef>
                <a:spcPts val="1200"/>
              </a:spcBef>
              <a:spcAft>
                <a:spcPts val="0"/>
              </a:spcAft>
              <a:buClr>
                <a:schemeClr val="dk1"/>
              </a:buClr>
              <a:buSzPts val="1000"/>
              <a:buAutoNum type="arabicPeriod"/>
            </a:pPr>
            <a:r>
              <a:rPr b="1" lang="en-GB" sz="1000">
                <a:solidFill>
                  <a:schemeClr val="dk1"/>
                </a:solidFill>
              </a:rPr>
              <a:t>city_development_index:</a:t>
            </a:r>
            <a:r>
              <a:rPr lang="en-GB" sz="1000">
                <a:solidFill>
                  <a:schemeClr val="dk1"/>
                </a:solidFill>
              </a:rPr>
              <a:t> 58-61% attrition in underdeveloped cities </a:t>
            </a:r>
            <a:br>
              <a:rPr lang="en-GB" sz="1000">
                <a:solidFill>
                  <a:schemeClr val="dk1"/>
                </a:solidFill>
              </a:rPr>
            </a:br>
            <a:r>
              <a:rPr lang="en-GB" sz="1000">
                <a:solidFill>
                  <a:schemeClr val="dk1"/>
                </a:solidFill>
              </a:rPr>
              <a:t>			vs. 24.6% in well developed cities</a:t>
            </a:r>
            <a:endParaRPr sz="1000">
              <a:solidFill>
                <a:schemeClr val="dk1"/>
              </a:solidFill>
            </a:endParaRPr>
          </a:p>
          <a:p>
            <a:pPr indent="-292100" lvl="0" marL="457200" rtl="0" algn="l">
              <a:spcBef>
                <a:spcPts val="0"/>
              </a:spcBef>
              <a:spcAft>
                <a:spcPts val="0"/>
              </a:spcAft>
              <a:buClr>
                <a:schemeClr val="dk1"/>
              </a:buClr>
              <a:buSzPts val="1000"/>
              <a:buAutoNum type="arabicPeriod"/>
            </a:pPr>
            <a:r>
              <a:rPr b="1" lang="en-GB" sz="1000">
                <a:solidFill>
                  <a:schemeClr val="dk1"/>
                </a:solidFill>
              </a:rPr>
              <a:t>company_type (“Not Provided”): </a:t>
            </a:r>
            <a:r>
              <a:rPr lang="en-GB" sz="1000">
                <a:solidFill>
                  <a:schemeClr val="dk1"/>
                </a:solidFill>
              </a:rPr>
              <a:t>Missing employer information signals instability or </a:t>
            </a:r>
            <a:br>
              <a:rPr lang="en-GB" sz="1000">
                <a:solidFill>
                  <a:schemeClr val="dk1"/>
                </a:solidFill>
              </a:rPr>
            </a:br>
            <a:r>
              <a:rPr lang="en-GB" sz="1000">
                <a:solidFill>
                  <a:schemeClr val="dk1"/>
                </a:solidFill>
              </a:rPr>
              <a:t>			ambiguity, strongly correlating with higher job switch</a:t>
            </a:r>
            <a:endParaRPr sz="1000">
              <a:solidFill>
                <a:schemeClr val="dk1"/>
              </a:solidFill>
            </a:endParaRPr>
          </a:p>
          <a:p>
            <a:pPr indent="-292100" lvl="0" marL="457200" rtl="0" algn="l">
              <a:spcBef>
                <a:spcPts val="0"/>
              </a:spcBef>
              <a:spcAft>
                <a:spcPts val="0"/>
              </a:spcAft>
              <a:buClr>
                <a:schemeClr val="dk1"/>
              </a:buClr>
              <a:buSzPts val="1000"/>
              <a:buAutoNum type="arabicPeriod"/>
            </a:pPr>
            <a:r>
              <a:rPr b="1" lang="en-GB" sz="1000">
                <a:solidFill>
                  <a:schemeClr val="dk1"/>
                </a:solidFill>
              </a:rPr>
              <a:t>training_hours:</a:t>
            </a:r>
            <a:r>
              <a:rPr lang="en-GB" sz="1000">
                <a:solidFill>
                  <a:schemeClr val="dk1"/>
                </a:solidFill>
              </a:rPr>
              <a:t> Negative correlation with attrition</a:t>
            </a:r>
            <a:endParaRPr b="1" sz="1000">
              <a:solidFill>
                <a:schemeClr val="dk1"/>
              </a:solidFill>
            </a:endParaRPr>
          </a:p>
          <a:p>
            <a:pPr indent="0" lvl="0" marL="0" rtl="0" algn="l">
              <a:spcBef>
                <a:spcPts val="1400"/>
              </a:spcBef>
              <a:spcAft>
                <a:spcPts val="0"/>
              </a:spcAft>
              <a:buClr>
                <a:schemeClr val="dk1"/>
              </a:buClr>
              <a:buSzPts val="1100"/>
              <a:buFont typeface="Arial"/>
              <a:buNone/>
            </a:pPr>
            <a:r>
              <a:rPr b="1" lang="en-GB" sz="1000">
                <a:solidFill>
                  <a:schemeClr val="dk1"/>
                </a:solidFill>
              </a:rPr>
              <a:t>Model Limitations</a:t>
            </a:r>
            <a:endParaRPr b="1" sz="1000">
              <a:solidFill>
                <a:schemeClr val="dk1"/>
              </a:solidFill>
            </a:endParaRPr>
          </a:p>
          <a:p>
            <a:pPr indent="-292100" lvl="0" marL="457200" rtl="0" algn="l">
              <a:spcBef>
                <a:spcPts val="1200"/>
              </a:spcBef>
              <a:spcAft>
                <a:spcPts val="0"/>
              </a:spcAft>
              <a:buClr>
                <a:schemeClr val="dk1"/>
              </a:buClr>
              <a:buSzPts val="1000"/>
              <a:buAutoNum type="arabicPeriod"/>
            </a:pPr>
            <a:r>
              <a:rPr b="1" lang="en-GB" sz="1000">
                <a:solidFill>
                  <a:schemeClr val="dk1"/>
                </a:solidFill>
              </a:rPr>
              <a:t>Gender Bias Detected: </a:t>
            </a:r>
            <a:r>
              <a:rPr lang="en-GB" sz="1000">
                <a:solidFill>
                  <a:schemeClr val="dk1"/>
                </a:solidFill>
              </a:rPr>
              <a:t>Training data: 86.1% male, 8.3% female; Error rates: Male 15.0%, </a:t>
            </a:r>
            <a:r>
              <a:rPr b="1" lang="en-GB" sz="1000">
                <a:solidFill>
                  <a:schemeClr val="dk1"/>
                </a:solidFill>
              </a:rPr>
              <a:t>Female 19.8%</a:t>
            </a:r>
            <a:r>
              <a:rPr lang="en-GB" sz="1000">
                <a:solidFill>
                  <a:schemeClr val="dk1"/>
                </a:solidFill>
              </a:rPr>
              <a:t> (+4.8% gap)</a:t>
            </a:r>
            <a:endParaRPr sz="1000">
              <a:solidFill>
                <a:schemeClr val="dk1"/>
              </a:solidFill>
            </a:endParaRPr>
          </a:p>
          <a:p>
            <a:pPr indent="-292100" lvl="0" marL="457200" rtl="0" algn="l">
              <a:spcBef>
                <a:spcPts val="0"/>
              </a:spcBef>
              <a:spcAft>
                <a:spcPts val="0"/>
              </a:spcAft>
              <a:buClr>
                <a:schemeClr val="dk1"/>
              </a:buClr>
              <a:buSzPts val="1000"/>
              <a:buAutoNum type="arabicPeriod"/>
            </a:pPr>
            <a:r>
              <a:rPr b="1" lang="en-GB" sz="1000">
                <a:solidFill>
                  <a:schemeClr val="dk1"/>
                </a:solidFill>
              </a:rPr>
              <a:t>SMOTE Limitations:</a:t>
            </a:r>
            <a:r>
              <a:rPr lang="en-GB" sz="1000">
                <a:solidFill>
                  <a:schemeClr val="dk1"/>
                </a:solidFill>
              </a:rPr>
              <a:t> Synthetic samples may not capture true minority class distribution; potential overfitting to interpolated patterns rather than actual data.</a:t>
            </a:r>
            <a:endParaRPr sz="1000">
              <a:solidFill>
                <a:schemeClr val="dk1"/>
              </a:solidFill>
            </a:endParaRPr>
          </a:p>
          <a:p>
            <a:pPr indent="-292100" lvl="0" marL="457200" rtl="0" algn="l">
              <a:spcBef>
                <a:spcPts val="0"/>
              </a:spcBef>
              <a:spcAft>
                <a:spcPts val="0"/>
              </a:spcAft>
              <a:buClr>
                <a:schemeClr val="dk1"/>
              </a:buClr>
              <a:buSzPts val="1000"/>
              <a:buAutoNum type="arabicPeriod"/>
            </a:pPr>
            <a:r>
              <a:rPr b="1" lang="en-GB" sz="1000">
                <a:solidFill>
                  <a:schemeClr val="dk1"/>
                </a:solidFill>
              </a:rPr>
              <a:t>Temporal Validity:</a:t>
            </a:r>
            <a:r>
              <a:rPr lang="en-GB" sz="1000">
                <a:solidFill>
                  <a:schemeClr val="dk1"/>
                </a:solidFill>
              </a:rPr>
              <a:t> No time-based validation - model may not generalize to future cohorts</a:t>
            </a:r>
            <a:endParaRPr sz="1000">
              <a:solidFill>
                <a:schemeClr val="dk1"/>
              </a:solidFill>
            </a:endParaRPr>
          </a:p>
          <a:p>
            <a:pPr indent="0" lvl="0" marL="0" rtl="0" algn="l">
              <a:spcBef>
                <a:spcPts val="1200"/>
              </a:spcBef>
              <a:spcAft>
                <a:spcPts val="1200"/>
              </a:spcAft>
              <a:buNone/>
            </a:pPr>
            <a:r>
              <a:t/>
            </a:r>
            <a:endParaRPr sz="1000">
              <a:solidFill>
                <a:schemeClr val="dk1"/>
              </a:solidFill>
            </a:endParaRPr>
          </a:p>
        </p:txBody>
      </p:sp>
      <p:pic>
        <p:nvPicPr>
          <p:cNvPr id="90" name="Google Shape;90;p17"/>
          <p:cNvPicPr preferRelativeResize="0"/>
          <p:nvPr/>
        </p:nvPicPr>
        <p:blipFill>
          <a:blip r:embed="rId3">
            <a:alphaModFix/>
          </a:blip>
          <a:stretch>
            <a:fillRect/>
          </a:stretch>
        </p:blipFill>
        <p:spPr>
          <a:xfrm>
            <a:off x="5663925" y="324675"/>
            <a:ext cx="3580749" cy="27100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09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200"/>
              <a:t>Team Contributions</a:t>
            </a:r>
            <a:endParaRPr sz="2200"/>
          </a:p>
        </p:txBody>
      </p:sp>
      <p:sp>
        <p:nvSpPr>
          <p:cNvPr id="96" name="Google Shape;96;p18"/>
          <p:cNvSpPr txBox="1"/>
          <p:nvPr>
            <p:ph idx="1" type="body"/>
          </p:nvPr>
        </p:nvSpPr>
        <p:spPr>
          <a:xfrm>
            <a:off x="311700" y="989825"/>
            <a:ext cx="8520600" cy="38973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GB" sz="1000">
                <a:solidFill>
                  <a:schemeClr val="dk1"/>
                </a:solidFill>
              </a:rPr>
              <a:t>Group II Members:</a:t>
            </a:r>
            <a:endParaRPr b="1" sz="1000">
              <a:solidFill>
                <a:schemeClr val="dk1"/>
              </a:solidFill>
            </a:endParaRPr>
          </a:p>
          <a:p>
            <a:pPr indent="-292100" lvl="0" marL="457200" rtl="0" algn="l">
              <a:spcBef>
                <a:spcPts val="1200"/>
              </a:spcBef>
              <a:spcAft>
                <a:spcPts val="0"/>
              </a:spcAft>
              <a:buClr>
                <a:schemeClr val="dk1"/>
              </a:buClr>
              <a:buSzPts val="1000"/>
              <a:buChar char="●"/>
            </a:pPr>
            <a:r>
              <a:rPr b="1" lang="en-GB" sz="1000">
                <a:solidFill>
                  <a:schemeClr val="dk1"/>
                </a:solidFill>
              </a:rPr>
              <a:t>Angelo Miculescu</a:t>
            </a:r>
            <a:endParaRPr b="1" sz="1000">
              <a:solidFill>
                <a:schemeClr val="dk1"/>
              </a:solidFill>
            </a:endParaRPr>
          </a:p>
          <a:p>
            <a:pPr indent="-292100" lvl="0" marL="457200" rtl="0" algn="l">
              <a:spcBef>
                <a:spcPts val="0"/>
              </a:spcBef>
              <a:spcAft>
                <a:spcPts val="0"/>
              </a:spcAft>
              <a:buClr>
                <a:schemeClr val="dk1"/>
              </a:buClr>
              <a:buSzPts val="1000"/>
              <a:buChar char="●"/>
            </a:pPr>
            <a:r>
              <a:rPr b="1" lang="en-GB" sz="1000">
                <a:solidFill>
                  <a:schemeClr val="dk1"/>
                </a:solidFill>
              </a:rPr>
              <a:t>Nikhil Verma</a:t>
            </a:r>
            <a:endParaRPr b="1" sz="1000">
              <a:solidFill>
                <a:schemeClr val="dk1"/>
              </a:solidFill>
            </a:endParaRPr>
          </a:p>
          <a:p>
            <a:pPr indent="-292100" lvl="0" marL="457200" rtl="0" algn="l">
              <a:spcBef>
                <a:spcPts val="0"/>
              </a:spcBef>
              <a:spcAft>
                <a:spcPts val="0"/>
              </a:spcAft>
              <a:buClr>
                <a:schemeClr val="dk1"/>
              </a:buClr>
              <a:buSzPts val="1000"/>
              <a:buChar char="●"/>
            </a:pPr>
            <a:r>
              <a:rPr b="1" lang="en-GB" sz="1000">
                <a:solidFill>
                  <a:schemeClr val="dk1"/>
                </a:solidFill>
              </a:rPr>
              <a:t>Stanley Masaku</a:t>
            </a:r>
            <a:endParaRPr b="1" sz="1000">
              <a:solidFill>
                <a:schemeClr val="dk1"/>
              </a:solidFill>
            </a:endParaRPr>
          </a:p>
          <a:p>
            <a:pPr indent="-292100" lvl="0" marL="457200" rtl="0" algn="l">
              <a:spcBef>
                <a:spcPts val="0"/>
              </a:spcBef>
              <a:spcAft>
                <a:spcPts val="0"/>
              </a:spcAft>
              <a:buClr>
                <a:schemeClr val="dk1"/>
              </a:buClr>
              <a:buSzPts val="1000"/>
              <a:buChar char="●"/>
            </a:pPr>
            <a:r>
              <a:rPr b="1" lang="en-GB" sz="1000">
                <a:solidFill>
                  <a:schemeClr val="dk1"/>
                </a:solidFill>
              </a:rPr>
              <a:t>Yuvashree Ponnurangan</a:t>
            </a:r>
            <a:endParaRPr b="1" sz="1000">
              <a:solidFill>
                <a:schemeClr val="dk1"/>
              </a:solidFill>
            </a:endParaRPr>
          </a:p>
          <a:p>
            <a:pPr indent="0" lvl="0" marL="0" rtl="0" algn="l">
              <a:spcBef>
                <a:spcPts val="1200"/>
              </a:spcBef>
              <a:spcAft>
                <a:spcPts val="0"/>
              </a:spcAft>
              <a:buNone/>
            </a:pPr>
            <a:r>
              <a:rPr b="1" lang="en-GB" sz="1000">
                <a:solidFill>
                  <a:schemeClr val="dk1"/>
                </a:solidFill>
              </a:rPr>
              <a:t>Equal Contribution Across All Phases:</a:t>
            </a:r>
            <a:endParaRPr b="1" sz="1000">
              <a:solidFill>
                <a:schemeClr val="dk1"/>
              </a:solidFill>
            </a:endParaRPr>
          </a:p>
          <a:p>
            <a:pPr indent="-292100" lvl="0" marL="457200" rtl="0" algn="l">
              <a:spcBef>
                <a:spcPts val="1200"/>
              </a:spcBef>
              <a:spcAft>
                <a:spcPts val="0"/>
              </a:spcAft>
              <a:buClr>
                <a:schemeClr val="dk1"/>
              </a:buClr>
              <a:buSzPts val="1000"/>
              <a:buChar char="●"/>
            </a:pPr>
            <a:r>
              <a:rPr b="1" lang="en-GB" sz="1000">
                <a:solidFill>
                  <a:schemeClr val="dk1"/>
                </a:solidFill>
              </a:rPr>
              <a:t>Exploratory Data Analysis: </a:t>
            </a:r>
            <a:r>
              <a:rPr lang="en-GB" sz="1000">
                <a:solidFill>
                  <a:schemeClr val="dk1"/>
                </a:solidFill>
              </a:rPr>
              <a:t>Collaborative investigation of data relationships and patterns</a:t>
            </a:r>
            <a:endParaRPr sz="1000">
              <a:solidFill>
                <a:schemeClr val="dk1"/>
              </a:solidFill>
            </a:endParaRPr>
          </a:p>
          <a:p>
            <a:pPr indent="-292100" lvl="0" marL="457200" rtl="0" algn="l">
              <a:spcBef>
                <a:spcPts val="0"/>
              </a:spcBef>
              <a:spcAft>
                <a:spcPts val="0"/>
              </a:spcAft>
              <a:buClr>
                <a:schemeClr val="dk1"/>
              </a:buClr>
              <a:buSzPts val="1000"/>
              <a:buChar char="●"/>
            </a:pPr>
            <a:r>
              <a:rPr b="1" lang="en-GB" sz="1000">
                <a:solidFill>
                  <a:schemeClr val="dk1"/>
                </a:solidFill>
              </a:rPr>
              <a:t>Data Preprocessing: </a:t>
            </a:r>
            <a:r>
              <a:rPr lang="en-GB" sz="1000">
                <a:solidFill>
                  <a:schemeClr val="dk1"/>
                </a:solidFill>
              </a:rPr>
              <a:t>Joint brainstorming and decision-making on missing data imputation strategies</a:t>
            </a:r>
            <a:endParaRPr sz="1000">
              <a:solidFill>
                <a:schemeClr val="dk1"/>
              </a:solidFill>
            </a:endParaRPr>
          </a:p>
          <a:p>
            <a:pPr indent="-292100" lvl="0" marL="457200" rtl="0" algn="l">
              <a:spcBef>
                <a:spcPts val="0"/>
              </a:spcBef>
              <a:spcAft>
                <a:spcPts val="0"/>
              </a:spcAft>
              <a:buClr>
                <a:schemeClr val="dk1"/>
              </a:buClr>
              <a:buSzPts val="1000"/>
              <a:buChar char="●"/>
            </a:pPr>
            <a:r>
              <a:rPr b="1" lang="en-GB" sz="1000">
                <a:solidFill>
                  <a:schemeClr val="dk1"/>
                </a:solidFill>
              </a:rPr>
              <a:t>Model Development:</a:t>
            </a:r>
            <a:r>
              <a:rPr lang="en-GB" sz="1000">
                <a:solidFill>
                  <a:schemeClr val="dk1"/>
                </a:solidFill>
              </a:rPr>
              <a:t> Shared responsibilities in model selection, training, and hyperparameter tuning</a:t>
            </a:r>
            <a:endParaRPr sz="1000">
              <a:solidFill>
                <a:schemeClr val="dk1"/>
              </a:solidFill>
            </a:endParaRPr>
          </a:p>
          <a:p>
            <a:pPr indent="-292100" lvl="0" marL="457200" rtl="0" algn="l">
              <a:spcBef>
                <a:spcPts val="0"/>
              </a:spcBef>
              <a:spcAft>
                <a:spcPts val="0"/>
              </a:spcAft>
              <a:buClr>
                <a:schemeClr val="dk1"/>
              </a:buClr>
              <a:buSzPts val="1000"/>
              <a:buChar char="●"/>
            </a:pPr>
            <a:r>
              <a:rPr b="1" lang="en-GB" sz="1000">
                <a:solidFill>
                  <a:schemeClr val="dk1"/>
                </a:solidFill>
              </a:rPr>
              <a:t>Implementation:</a:t>
            </a:r>
            <a:r>
              <a:rPr lang="en-GB" sz="1000">
                <a:solidFill>
                  <a:schemeClr val="dk1"/>
                </a:solidFill>
              </a:rPr>
              <a:t> Collective coding efforts across preprocessing, modeling, and evaluation pipelines</a:t>
            </a:r>
            <a:endParaRPr sz="1000">
              <a:solidFill>
                <a:schemeClr val="dk1"/>
              </a:solidFill>
            </a:endParaRPr>
          </a:p>
          <a:p>
            <a:pPr indent="-292100" lvl="0" marL="457200" rtl="0" algn="l">
              <a:spcBef>
                <a:spcPts val="0"/>
              </a:spcBef>
              <a:spcAft>
                <a:spcPts val="0"/>
              </a:spcAft>
              <a:buClr>
                <a:schemeClr val="dk1"/>
              </a:buClr>
              <a:buSzPts val="1000"/>
              <a:buChar char="●"/>
            </a:pPr>
            <a:r>
              <a:rPr b="1" lang="en-GB" sz="1000">
                <a:solidFill>
                  <a:schemeClr val="dk1"/>
                </a:solidFill>
              </a:rPr>
              <a:t>Documentation: </a:t>
            </a:r>
            <a:r>
              <a:rPr lang="en-GB" sz="1000">
                <a:solidFill>
                  <a:schemeClr val="dk1"/>
                </a:solidFill>
              </a:rPr>
              <a:t>Team-based report writing with distributed section authorship</a:t>
            </a:r>
            <a:endParaRPr sz="1000">
              <a:solidFill>
                <a:schemeClr val="dk1"/>
              </a:solidFill>
            </a:endParaRPr>
          </a:p>
          <a:p>
            <a:pPr indent="0" lvl="0" marL="0" rtl="0" algn="l">
              <a:spcBef>
                <a:spcPts val="1200"/>
              </a:spcBef>
              <a:spcAft>
                <a:spcPts val="1200"/>
              </a:spcAft>
              <a:buNone/>
            </a:pPr>
            <a:r>
              <a:rPr b="1" lang="en-GB" sz="1000">
                <a:solidFill>
                  <a:schemeClr val="dk1"/>
                </a:solidFill>
              </a:rPr>
              <a:t>Repository: </a:t>
            </a:r>
            <a:r>
              <a:rPr lang="en-GB" sz="1000" u="sng">
                <a:solidFill>
                  <a:schemeClr val="hlink"/>
                </a:solidFill>
                <a:hlinkClick r:id="rId3"/>
              </a:rPr>
              <a:t>gitlab.computing.dcu.ie/angelo.miculescu2/csc1181-group-project</a:t>
            </a:r>
            <a:endParaRPr sz="1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idx="1" type="body"/>
          </p:nvPr>
        </p:nvSpPr>
        <p:spPr>
          <a:xfrm>
            <a:off x="311700" y="79550"/>
            <a:ext cx="8520600" cy="51435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GB" sz="5000">
                <a:solidFill>
                  <a:schemeClr val="dk1"/>
                </a:solidFill>
              </a:rPr>
              <a:t>Thank you!</a:t>
            </a:r>
            <a:endParaRPr sz="50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